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74" r:id="rId7"/>
    <p:sldId id="261" r:id="rId8"/>
    <p:sldId id="273" r:id="rId9"/>
    <p:sldId id="280" r:id="rId10"/>
    <p:sldId id="262" r:id="rId11"/>
    <p:sldId id="263" r:id="rId12"/>
    <p:sldId id="264" r:id="rId13"/>
    <p:sldId id="275" r:id="rId14"/>
    <p:sldId id="276" r:id="rId15"/>
    <p:sldId id="277" r:id="rId16"/>
    <p:sldId id="278" r:id="rId17"/>
    <p:sldId id="279" r:id="rId18"/>
    <p:sldId id="265" r:id="rId19"/>
    <p:sldId id="266" r:id="rId20"/>
    <p:sldId id="267" r:id="rId21"/>
    <p:sldId id="268" r:id="rId22"/>
    <p:sldId id="271" r:id="rId23"/>
    <p:sldId id="272" r:id="rId24"/>
  </p:sldIdLst>
  <p:sldSz cx="12192000" cy="6858000"/>
  <p:notesSz cx="6858000" cy="9144000"/>
  <p:embeddedFontLst>
    <p:embeddedFont>
      <p:font typeface="Arial Narrow" panose="020B0606020202030204" pitchFamily="34" charset="0"/>
      <p:regular r:id="rId26"/>
      <p:bold r:id="rId27"/>
      <p:italic r:id="rId28"/>
      <p:boldItalic r:id="rId2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0" roundtripDataSignature="AMtx7mgf10L9/O25FquuOPl/RY1EpRjfO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CDD818E-ADFA-4579-856F-A3140DA02BD1}">
  <a:tblStyle styleId="{3CDD818E-ADFA-4579-856F-A3140DA02BD1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BF1E8"/>
          </a:solidFill>
        </a:fill>
      </a:tcStyle>
    </a:wholeTbl>
    <a:band1H>
      <a:tcTxStyle/>
      <a:tcStyle>
        <a:tcBdr/>
        <a:fill>
          <a:solidFill>
            <a:srgbClr val="D4E2CE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D4E2CE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6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6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2.fntdata"/><Relationship Id="rId30" Type="http://customschemas.google.com/relationships/presentationmetadata" Target="metadata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263835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318117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477086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228067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152749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090020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864186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>
          <a:extLst>
            <a:ext uri="{FF2B5EF4-FFF2-40B4-BE49-F238E27FC236}">
              <a16:creationId xmlns:a16="http://schemas.microsoft.com/office/drawing/2014/main" id="{FFC7DFEF-3B2E-D017-0B21-BC210BF462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6:notes">
            <a:extLst>
              <a:ext uri="{FF2B5EF4-FFF2-40B4-BE49-F238E27FC236}">
                <a16:creationId xmlns:a16="http://schemas.microsoft.com/office/drawing/2014/main" id="{1B5CA6E9-7386-2799-6840-751B808D742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6:notes">
            <a:extLst>
              <a:ext uri="{FF2B5EF4-FFF2-40B4-BE49-F238E27FC236}">
                <a16:creationId xmlns:a16="http://schemas.microsoft.com/office/drawing/2014/main" id="{EA42349E-92BC-7FC0-2C31-D4076D7383E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719837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1539872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2039472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5637298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3563065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9584687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1260306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3676395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1391972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>
          <a:extLst>
            <a:ext uri="{FF2B5EF4-FFF2-40B4-BE49-F238E27FC236}">
              <a16:creationId xmlns:a16="http://schemas.microsoft.com/office/drawing/2014/main" id="{3C1E655B-A341-3619-F687-C18AD4E094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6:notes">
            <a:extLst>
              <a:ext uri="{FF2B5EF4-FFF2-40B4-BE49-F238E27FC236}">
                <a16:creationId xmlns:a16="http://schemas.microsoft.com/office/drawing/2014/main" id="{42A01C9D-D513-EC7A-DB57-5A2A126154D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16:notes">
            <a:extLst>
              <a:ext uri="{FF2B5EF4-FFF2-40B4-BE49-F238E27FC236}">
                <a16:creationId xmlns:a16="http://schemas.microsoft.com/office/drawing/2014/main" id="{20F5E407-20E3-63F2-7964-49A89E8D03B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888533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" name="Google Shape;18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0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0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28" name="Google Shape;28;p20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" name="Google Shape;29;p20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0" name="Google Shape;30;p20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" name="Google Shape;31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1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21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7" name="Google Shape;37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2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2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9" name="Google Shape;49;p23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5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25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6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6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6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7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8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8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>
            <a:spLocks noGrp="1"/>
          </p:cNvSpPr>
          <p:nvPr>
            <p:ph type="body" idx="1"/>
          </p:nvPr>
        </p:nvSpPr>
        <p:spPr>
          <a:xfrm>
            <a:off x="261257" y="2159687"/>
            <a:ext cx="11636830" cy="4379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</a:pPr>
            <a:r>
              <a:rPr lang="en-US" sz="3600" b="1" dirty="0">
                <a:latin typeface="Arial Narrow"/>
                <a:ea typeface="Arial Narrow"/>
                <a:cs typeface="Arial Narrow"/>
                <a:sym typeface="Arial Narrow"/>
              </a:rPr>
              <a:t>DEPARTMENT OF COMPUTER SCIENCE AND ENGINEERING</a:t>
            </a:r>
            <a:endParaRPr dirty="0">
              <a:latin typeface="Arial Narrow"/>
              <a:ea typeface="Arial Narrow"/>
              <a:cs typeface="Arial Narrow"/>
              <a:sym typeface="Arial Narrow"/>
            </a:endParaRPr>
          </a:p>
          <a:p>
            <a:pPr marL="0" lvl="0" indent="0" algn="ctr">
              <a:buSzPts val="3600"/>
              <a:buNone/>
            </a:pPr>
            <a:r>
              <a:rPr lang="en-US" b="1" dirty="0">
                <a:latin typeface="Arial Narrow"/>
                <a:ea typeface="Arial Narrow"/>
                <a:cs typeface="Arial Narrow"/>
                <a:sym typeface="Arial Narrow"/>
              </a:rPr>
              <a:t>20CS7503 &amp; DESIGN PROJECT – III</a:t>
            </a:r>
          </a:p>
          <a:p>
            <a:pPr marL="0" lvl="0" indent="0" algn="ctr">
              <a:buSzPts val="3600"/>
              <a:buNone/>
            </a:pPr>
            <a:endParaRPr lang="en-US" b="1" dirty="0">
              <a:latin typeface="Arial Narrow"/>
              <a:sym typeface="Arial Narrow"/>
            </a:endParaRPr>
          </a:p>
          <a:p>
            <a:pPr marL="0" lvl="0" indent="0" algn="ctr">
              <a:buSzPts val="3600"/>
              <a:buNone/>
            </a:pPr>
            <a:r>
              <a:rPr lang="en-US" b="1" dirty="0"/>
              <a:t>END SEMESTER PRACTICAL EXAMINATION- NOV / DEC 2025</a:t>
            </a:r>
            <a:endParaRPr lang="en-US" dirty="0"/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b="1" u="sng" dirty="0">
                <a:latin typeface="Arial Narrow"/>
                <a:ea typeface="Arial Narrow"/>
                <a:cs typeface="Arial Narrow"/>
                <a:sym typeface="Arial Narrow"/>
              </a:rPr>
              <a:t>REVIEW PRESENTATION</a:t>
            </a:r>
            <a:endParaRPr dirty="0">
              <a:latin typeface="Arial Narrow"/>
              <a:ea typeface="Arial Narrow"/>
              <a:cs typeface="Arial Narrow"/>
              <a:sym typeface="Arial Narrow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b="1" dirty="0">
                <a:latin typeface="Arial Narrow"/>
                <a:ea typeface="Arial Narrow"/>
                <a:cs typeface="Arial Narrow"/>
                <a:sym typeface="Arial Narrow"/>
              </a:rPr>
              <a:t>Batch No.:14</a:t>
            </a:r>
            <a:endParaRPr lang="en-US" dirty="0">
              <a:latin typeface="Arial Narrow"/>
              <a:ea typeface="Arial Narrow"/>
              <a:cs typeface="Arial Narrow"/>
              <a:sym typeface="Arial Narrow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b="1" dirty="0">
                <a:latin typeface="Arial Narrow"/>
                <a:ea typeface="Arial Narrow"/>
                <a:cs typeface="Arial Narrow"/>
                <a:sym typeface="Arial Narrow"/>
              </a:rPr>
              <a:t>Date:28.11.2025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b="1" dirty="0">
                <a:latin typeface="Arial Narrow"/>
                <a:ea typeface="Arial Narrow"/>
                <a:cs typeface="Arial Narrow"/>
                <a:sym typeface="Arial Narrow"/>
              </a:rPr>
              <a:t>Session: AN</a:t>
            </a:r>
            <a:endParaRPr b="1" dirty="0"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89" name="Google Shape;89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fld>
            <a:endParaRPr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1" name="Google Shape;91;p1"/>
          <p:cNvPicPr preferRelativeResize="0"/>
          <p:nvPr/>
        </p:nvPicPr>
        <p:blipFill>
          <a:blip r:embed="rId3">
            <a:alphaModFix/>
          </a:blip>
          <a:srcRect l="16357" r="14907" b="8148"/>
          <a:stretch>
            <a:fillRect/>
          </a:stretch>
        </p:blipFill>
        <p:spPr>
          <a:xfrm>
            <a:off x="11215585" y="65332"/>
            <a:ext cx="903515" cy="511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F1154A9-AC42-7CD3-98A5-5A0376D653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932" y="0"/>
            <a:ext cx="5348811" cy="187359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12119100" cy="7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</a:pPr>
            <a:r>
              <a:rPr lang="en-US" sz="3600" b="1" dirty="0">
                <a:latin typeface="Arial Narrow"/>
                <a:ea typeface="Arial Narrow"/>
                <a:cs typeface="Arial Narrow"/>
                <a:sym typeface="Arial Narrow"/>
              </a:rPr>
              <a:t>ACADEMIC AND PLACEMENT TRACKER</a:t>
            </a:r>
            <a:endParaRPr b="1" dirty="0"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97" name="Google Shape;97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fld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8" name="Google Shape;98;p2"/>
          <p:cNvSpPr txBox="1">
            <a:spLocks noGrp="1"/>
          </p:cNvSpPr>
          <p:nvPr>
            <p:ph type="body" idx="1"/>
          </p:nvPr>
        </p:nvSpPr>
        <p:spPr>
          <a:xfrm>
            <a:off x="495817" y="3594414"/>
            <a:ext cx="3993056" cy="272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b="1" dirty="0"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  <a:t>Guide Name: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b="1" dirty="0" err="1"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  <a:t>Ms</a:t>
            </a:r>
            <a:r>
              <a:rPr lang="en-US" sz="2400" b="1" dirty="0"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  <a:t> .R.MADHUMATHI, M.E.,</a:t>
            </a:r>
            <a:endParaRPr b="1" dirty="0">
              <a:latin typeface="Arial Narrow" panose="020B0606020202030204" pitchFamily="34" charset="0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9" name="Google Shape;99;p2"/>
          <p:cNvSpPr txBox="1">
            <a:spLocks noGrp="1"/>
          </p:cNvSpPr>
          <p:nvPr>
            <p:ph type="body" idx="1"/>
          </p:nvPr>
        </p:nvSpPr>
        <p:spPr>
          <a:xfrm>
            <a:off x="7056582" y="3631450"/>
            <a:ext cx="4942751" cy="272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b="1" dirty="0"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  <a:t>Team Members: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b="1" dirty="0"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  <a:t>KEERTHIVASAN S J	 (811722104074)</a:t>
            </a:r>
          </a:p>
          <a:p>
            <a:pPr marL="0" lvl="0" indent="0">
              <a:buSzPts val="2400"/>
              <a:buNone/>
            </a:pPr>
            <a:r>
              <a:rPr lang="en-US" sz="2400" b="1" dirty="0"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  <a:t>MUHUNDAN S		 (811722104095)</a:t>
            </a:r>
          </a:p>
          <a:p>
            <a:pPr marL="0" lvl="0" indent="0">
              <a:buSzPts val="2400"/>
              <a:buNone/>
            </a:pPr>
            <a:r>
              <a:rPr lang="en-US" sz="2400" b="1" dirty="0"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  <a:t>RAJESH R		 (811722104117)</a:t>
            </a:r>
            <a:endParaRPr b="1" dirty="0">
              <a:latin typeface="Arial Narrow" panose="020B0606020202030204" pitchFamily="34" charset="0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"/>
          <p:cNvSpPr txBox="1">
            <a:spLocks noGrp="1"/>
          </p:cNvSpPr>
          <p:nvPr>
            <p:ph type="title"/>
          </p:nvPr>
        </p:nvSpPr>
        <p:spPr>
          <a:xfrm>
            <a:off x="838200" y="0"/>
            <a:ext cx="10515600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b="1">
                <a:latin typeface="Arial Narrow"/>
                <a:ea typeface="Arial Narrow"/>
                <a:cs typeface="Arial Narrow"/>
                <a:sym typeface="Arial Narrow"/>
              </a:rPr>
              <a:t>OBJECTIVE OF THE PROJECT</a:t>
            </a:r>
            <a:endParaRPr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05" name="Google Shape;105;p3"/>
          <p:cNvSpPr txBox="1">
            <a:spLocks noGrp="1"/>
          </p:cNvSpPr>
          <p:nvPr>
            <p:ph type="body" idx="1"/>
          </p:nvPr>
        </p:nvSpPr>
        <p:spPr>
          <a:xfrm>
            <a:off x="838200" y="1498772"/>
            <a:ext cx="10515600" cy="37290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40000" lnSpcReduction="20000"/>
          </a:bodyPr>
          <a:lstStyle/>
          <a:p>
            <a:pPr marL="0" indent="0" algn="just">
              <a:spcBef>
                <a:spcPts val="0"/>
              </a:spcBef>
              <a:buClr>
                <a:srgbClr val="FF0000"/>
              </a:buClr>
              <a:buSzPts val="2800"/>
              <a:buNone/>
            </a:pPr>
            <a:r>
              <a:rPr lang="en-US" sz="6000" dirty="0">
                <a:latin typeface="Arial Narrow"/>
                <a:ea typeface="Arial Narrow"/>
                <a:cs typeface="Arial Narrow"/>
                <a:sym typeface="Arial Narrow"/>
              </a:rPr>
              <a:t>1.</a:t>
            </a:r>
            <a:r>
              <a:rPr lang="en-US" altLang="en-US" sz="6000" dirty="0">
                <a:solidFill>
                  <a:schemeClr val="tx1"/>
                </a:solidFill>
                <a:latin typeface="Arial Narrow" panose="020B0606020202030204" pitchFamily="34" charset="0"/>
              </a:rPr>
              <a:t> To monitor academic performance by tracking students’ grades, credits, attendance, and overall progress.</a:t>
            </a:r>
          </a:p>
          <a:p>
            <a:pPr marL="0" indent="0" algn="just">
              <a:spcBef>
                <a:spcPts val="0"/>
              </a:spcBef>
              <a:buClr>
                <a:srgbClr val="FF0000"/>
              </a:buClr>
              <a:buSzPts val="2800"/>
              <a:buNone/>
            </a:pPr>
            <a:endParaRPr sz="6000" dirty="0">
              <a:latin typeface="Arial Narrow"/>
              <a:ea typeface="Arial Narrow"/>
              <a:cs typeface="Arial Narrow"/>
              <a:sym typeface="Arial Narrow"/>
            </a:endParaRPr>
          </a:p>
          <a:p>
            <a:pPr marL="0" indent="0" algn="just">
              <a:buClr>
                <a:srgbClr val="FF0000"/>
              </a:buClr>
              <a:buSzPts val="2800"/>
              <a:buNone/>
            </a:pPr>
            <a:r>
              <a:rPr lang="en-US" sz="6000" dirty="0">
                <a:latin typeface="Arial Narrow"/>
                <a:ea typeface="Arial Narrow"/>
                <a:cs typeface="Arial Narrow"/>
                <a:sym typeface="Arial Narrow"/>
              </a:rPr>
              <a:t>2.</a:t>
            </a:r>
            <a:r>
              <a:rPr lang="en-US" altLang="en-US" sz="6000" dirty="0">
                <a:solidFill>
                  <a:schemeClr val="tx1"/>
                </a:solidFill>
                <a:latin typeface="Arial Narrow" panose="020B0606020202030204" pitchFamily="34" charset="0"/>
              </a:rPr>
              <a:t> To streamline placement activities by maintaining records of placement status ,company details, and roles offered.</a:t>
            </a:r>
          </a:p>
          <a:p>
            <a:pPr marL="0" indent="0" algn="just">
              <a:buClr>
                <a:srgbClr val="FF0000"/>
              </a:buClr>
              <a:buSzPts val="2800"/>
              <a:buNone/>
            </a:pPr>
            <a:endParaRPr sz="6000" dirty="0">
              <a:latin typeface="Arial Narrow"/>
              <a:ea typeface="Arial Narrow"/>
              <a:cs typeface="Arial Narrow"/>
              <a:sym typeface="Arial Narrow"/>
            </a:endParaRPr>
          </a:p>
          <a:p>
            <a:pPr marL="0" indent="0" algn="just">
              <a:buClr>
                <a:srgbClr val="FF0000"/>
              </a:buClr>
              <a:buSzPts val="2800"/>
              <a:buNone/>
            </a:pPr>
            <a:r>
              <a:rPr lang="en-US" sz="6000" dirty="0">
                <a:latin typeface="Arial Narrow"/>
                <a:ea typeface="Arial Narrow"/>
                <a:cs typeface="Arial Narrow"/>
                <a:sym typeface="Arial Narrow"/>
              </a:rPr>
              <a:t>3.</a:t>
            </a:r>
            <a:r>
              <a:rPr lang="en-US" altLang="en-US" sz="6000" dirty="0">
                <a:solidFill>
                  <a:schemeClr val="tx1"/>
                </a:solidFill>
                <a:latin typeface="Arial Narrow" panose="020B0606020202030204" pitchFamily="34" charset="0"/>
              </a:rPr>
              <a:t> To enable data-driven decision-making that helps students, faculty, and placement officers with better planning and career guidance.</a:t>
            </a:r>
          </a:p>
          <a:p>
            <a:pPr marL="0" indent="0" algn="just">
              <a:buClr>
                <a:srgbClr val="FF0000"/>
              </a:buClr>
              <a:buSzPts val="2800"/>
              <a:buNone/>
            </a:pPr>
            <a:endParaRPr lang="en-US" altLang="en-US" sz="6000" dirty="0">
              <a:latin typeface="Arial Narrow"/>
              <a:sym typeface="Arial Narrow"/>
            </a:endParaRPr>
          </a:p>
          <a:p>
            <a:pPr marL="0" indent="0" algn="just">
              <a:buClr>
                <a:srgbClr val="FF0000"/>
              </a:buClr>
              <a:buSzPts val="2800"/>
              <a:buNone/>
            </a:pPr>
            <a:r>
              <a:rPr lang="en-US" altLang="en-US" sz="6000" dirty="0">
                <a:solidFill>
                  <a:schemeClr val="tx1"/>
                </a:solidFill>
                <a:latin typeface="Arial Narrow"/>
                <a:sym typeface="Arial Narrow"/>
              </a:rPr>
              <a:t>4.</a:t>
            </a:r>
            <a:r>
              <a:rPr lang="en-US" altLang="en-US" sz="6000" dirty="0">
                <a:solidFill>
                  <a:schemeClr val="tx1"/>
                </a:solidFill>
                <a:latin typeface="Arial Narrow" panose="020B0606020202030204" pitchFamily="34" charset="0"/>
              </a:rPr>
              <a:t> To enhance accessibility and efficiency by reducing manual effort, ensuring accuracy, and allowing quick retrieval of academic and placement information.</a:t>
            </a:r>
          </a:p>
          <a:p>
            <a:pPr marL="0" indent="0">
              <a:buClr>
                <a:srgbClr val="FF0000"/>
              </a:buClr>
              <a:buSzPts val="2800"/>
              <a:buNone/>
            </a:pPr>
            <a:endParaRPr lang="en-US" altLang="en-US" dirty="0">
              <a:solidFill>
                <a:schemeClr val="tx1"/>
              </a:solidFill>
              <a:latin typeface="Arial Narrow" panose="020B0606020202030204" pitchFamily="34" charset="0"/>
            </a:endParaRPr>
          </a:p>
        </p:txBody>
      </p:sp>
      <p:sp>
        <p:nvSpPr>
          <p:cNvPr id="106" name="Google Shape;106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t>3</a:t>
            </a:fld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8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b="1">
                <a:latin typeface="Arial Narrow"/>
                <a:ea typeface="Arial Narrow"/>
                <a:cs typeface="Arial Narrow"/>
                <a:sym typeface="Arial Narrow"/>
              </a:rPr>
              <a:t>INTRODUCTION</a:t>
            </a:r>
            <a:endParaRPr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12" name="Google Shape;112;p4"/>
          <p:cNvSpPr txBox="1">
            <a:spLocks noGrp="1"/>
          </p:cNvSpPr>
          <p:nvPr>
            <p:ph type="body" idx="1"/>
          </p:nvPr>
        </p:nvSpPr>
        <p:spPr>
          <a:xfrm>
            <a:off x="838200" y="1170717"/>
            <a:ext cx="10228868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0" lvl="0" indent="0" algn="just">
              <a:spcBef>
                <a:spcPts val="0"/>
              </a:spcBef>
              <a:buSzPts val="2800"/>
              <a:buNone/>
            </a:pPr>
            <a:r>
              <a:rPr lang="en-US" sz="2600" dirty="0">
                <a:latin typeface="Arial Narrow" panose="020B0606020202030204" pitchFamily="34" charset="0"/>
              </a:rPr>
              <a:t>1.The Academic and Placement Tracker is designed to manage and monitor students academic performance and placement activities in a systematic way.</a:t>
            </a:r>
          </a:p>
          <a:p>
            <a:pPr marL="0" lvl="0" indent="0" algn="just">
              <a:spcBef>
                <a:spcPts val="0"/>
              </a:spcBef>
              <a:buSzPts val="2800"/>
              <a:buNone/>
            </a:pPr>
            <a:endParaRPr lang="en-US" sz="2600" dirty="0">
              <a:latin typeface="Arial Narrow" panose="020B0606020202030204" pitchFamily="34" charset="0"/>
            </a:endParaRPr>
          </a:p>
          <a:p>
            <a:pPr marL="0" lvl="0" indent="0" algn="just">
              <a:spcBef>
                <a:spcPts val="0"/>
              </a:spcBef>
              <a:buSzPts val="2800"/>
              <a:buNone/>
            </a:pPr>
            <a:r>
              <a:rPr lang="en-US" sz="2600" dirty="0">
                <a:latin typeface="Arial Narrow" panose="020B0606020202030204" pitchFamily="34" charset="0"/>
              </a:rPr>
              <a:t>2.It provides an organized platform to record and analyze data such as grades, attendance, credits, placement status, and company details.</a:t>
            </a:r>
          </a:p>
          <a:p>
            <a:pPr marL="0" lvl="0" indent="0" algn="just">
              <a:spcBef>
                <a:spcPts val="0"/>
              </a:spcBef>
              <a:buSzPts val="2800"/>
              <a:buNone/>
            </a:pPr>
            <a:endParaRPr lang="en-US" sz="2600" dirty="0">
              <a:latin typeface="Arial Narrow" panose="020B0606020202030204" pitchFamily="34" charset="0"/>
            </a:endParaRPr>
          </a:p>
          <a:p>
            <a:pPr marL="0" lvl="0" indent="0" algn="just">
              <a:spcBef>
                <a:spcPts val="0"/>
              </a:spcBef>
              <a:buSzPts val="2800"/>
              <a:buNone/>
            </a:pPr>
            <a:r>
              <a:rPr lang="en-US" sz="2600" dirty="0">
                <a:latin typeface="Arial Narrow" panose="020B0606020202030204" pitchFamily="34" charset="0"/>
              </a:rPr>
              <a:t>3.The system helps students evaluate their academic progress while also preparing for career opportunities.</a:t>
            </a:r>
          </a:p>
          <a:p>
            <a:pPr marL="0" lvl="0" indent="0" algn="just">
              <a:spcBef>
                <a:spcPts val="0"/>
              </a:spcBef>
              <a:buSzPts val="2800"/>
              <a:buNone/>
            </a:pPr>
            <a:endParaRPr lang="en-US" sz="2600" dirty="0">
              <a:latin typeface="Arial Narrow" panose="020B0606020202030204" pitchFamily="34" charset="0"/>
            </a:endParaRPr>
          </a:p>
          <a:p>
            <a:pPr marL="0" lvl="0" indent="0" algn="just">
              <a:spcBef>
                <a:spcPts val="0"/>
              </a:spcBef>
              <a:buSzPts val="2800"/>
              <a:buNone/>
            </a:pPr>
            <a:r>
              <a:rPr lang="en-US" sz="2600" dirty="0">
                <a:latin typeface="Arial Narrow" panose="020B0606020202030204" pitchFamily="34" charset="0"/>
              </a:rPr>
              <a:t>4.It assists faculty and placement officers in tracking student readiness, identifying gaps, and supporting decision-making with accurate data.</a:t>
            </a:r>
          </a:p>
          <a:p>
            <a:pPr marL="0" lvl="0" indent="0" algn="just">
              <a:spcBef>
                <a:spcPts val="0"/>
              </a:spcBef>
              <a:buSzPts val="2800"/>
              <a:buNone/>
            </a:pPr>
            <a:endParaRPr lang="en-US" sz="2600" dirty="0">
              <a:latin typeface="Arial Narrow" panose="020B0606020202030204" pitchFamily="34" charset="0"/>
            </a:endParaRPr>
          </a:p>
          <a:p>
            <a:pPr marL="0" lvl="0" indent="0" algn="just">
              <a:spcBef>
                <a:spcPts val="0"/>
              </a:spcBef>
              <a:buSzPts val="2800"/>
              <a:buNone/>
            </a:pPr>
            <a:r>
              <a:rPr lang="en-US" sz="2600" dirty="0">
                <a:latin typeface="Arial Narrow" panose="020B0606020202030204" pitchFamily="34" charset="0"/>
              </a:rPr>
              <a:t>5.By reducing manual work and enhancing accessibility, the tracker ensures efficiency, accuracy, and ease of use for all stakeholders.</a:t>
            </a: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>
              <a:latin typeface="Arial Narrow" panose="020B0606020202030204" pitchFamily="34" charset="0"/>
            </a:endParaRPr>
          </a:p>
        </p:txBody>
      </p:sp>
      <p:sp>
        <p:nvSpPr>
          <p:cNvPr id="113" name="Google Shape;113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t>4</a:t>
            </a:fld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5"/>
          <p:cNvSpPr/>
          <p:nvPr/>
        </p:nvSpPr>
        <p:spPr>
          <a:xfrm>
            <a:off x="8685138" y="6242051"/>
            <a:ext cx="2811379" cy="301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5"/>
          <p:cNvSpPr txBox="1">
            <a:spLocks noGrp="1"/>
          </p:cNvSpPr>
          <p:nvPr>
            <p:ph type="sldNum" idx="12"/>
          </p:nvPr>
        </p:nvSpPr>
        <p:spPr>
          <a:xfrm>
            <a:off x="8541745" y="6356351"/>
            <a:ext cx="2811379" cy="301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t>5</a:t>
            </a:fld>
            <a:endParaRPr b="1">
              <a:solidFill>
                <a:schemeClr val="dk1"/>
              </a:solidFill>
            </a:endParaRPr>
          </a:p>
        </p:txBody>
      </p:sp>
      <p:sp>
        <p:nvSpPr>
          <p:cNvPr id="120" name="Google Shape;120;p5"/>
          <p:cNvSpPr/>
          <p:nvPr/>
        </p:nvSpPr>
        <p:spPr>
          <a:xfrm>
            <a:off x="0" y="0"/>
            <a:ext cx="12353895" cy="1323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dirty="0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LITERATURE SURVEY</a:t>
            </a:r>
            <a:endParaRPr lang="en-US" dirty="0">
              <a:latin typeface="Arial Narrow"/>
              <a:ea typeface="Arial Narrow"/>
              <a:cs typeface="Arial Narrow"/>
              <a:sym typeface="Arial Narrow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4000" b="1" dirty="0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4834787"/>
              </p:ext>
            </p:extLst>
          </p:nvPr>
        </p:nvGraphicFramePr>
        <p:xfrm>
          <a:off x="561338" y="719666"/>
          <a:ext cx="11258180" cy="5940099"/>
        </p:xfrm>
        <a:graphic>
          <a:graphicData uri="http://schemas.openxmlformats.org/drawingml/2006/table">
            <a:tbl>
              <a:tblPr firstRow="1" bandRow="1">
                <a:tableStyleId>{3CDD818E-ADFA-4579-856F-A3140DA02BD1}</a:tableStyleId>
              </a:tblPr>
              <a:tblGrid>
                <a:gridCol w="28145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145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145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145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9108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400" u="none" strike="noStrike" cap="none" dirty="0">
                          <a:solidFill>
                            <a:schemeClr val="dk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TITLE OF PAPER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dirty="0">
                          <a:solidFill>
                            <a:schemeClr val="dk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AUTHOR(S)</a:t>
                      </a:r>
                      <a:endParaRPr lang="en-US" sz="2400" u="none" strike="noStrike" cap="none" dirty="0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400" u="none" strike="noStrike" cap="none" dirty="0">
                          <a:solidFill>
                            <a:schemeClr val="dk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PAPER GIST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400" u="none" strike="noStrike" cap="none" dirty="0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 dirty="0">
                          <a:solidFill>
                            <a:schemeClr val="dk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TECHNOLOGY USED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0879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/>
                        <a:t>Educational data mining and</a:t>
                      </a:r>
                      <a:r>
                        <a:rPr lang="en-US" sz="1800" baseline="0" dirty="0"/>
                        <a:t> </a:t>
                      </a:r>
                      <a:r>
                        <a:rPr lang="en-US" sz="1800" dirty="0"/>
                        <a:t>learning analytics: An updated survey</a:t>
                      </a:r>
                      <a:endParaRPr lang="en-US" sz="1800" u="none" strike="noStrike" cap="none" dirty="0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/>
                        <a:t>C. Romero, S. Ventura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/>
                        <a:t>Reviews major techniques in educational data mining and learning analytics.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/>
                        <a:t>Data Mining, Learning Analytics, Big Data, Predictive Modeling</a:t>
                      </a:r>
                      <a:endParaRPr sz="1800" u="none" strike="noStrike" cap="none" dirty="0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0879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/>
                        <a:t>Campus Placements Prediction &amp; Analysis using Machine Learning</a:t>
                      </a:r>
                      <a:endParaRPr lang="en-US" sz="1800" u="none" strike="noStrike" cap="none" dirty="0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/>
                        <a:t>Priyanka </a:t>
                      </a:r>
                      <a:r>
                        <a:rPr lang="en-US" sz="1800" dirty="0" err="1"/>
                        <a:t>Shahane</a:t>
                      </a:r>
                      <a:endParaRPr lang="en-US" sz="1800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/>
                        <a:t>Analyzes key academic and skill-based factors influencing placement outcomes.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/>
                        <a:t>Machine Learning (Logistic Regression, Decision Tree, KNN, Random Forest)</a:t>
                      </a: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80363">
                <a:tc>
                  <a:txBody>
                    <a:bodyPr/>
                    <a:lstStyle/>
                    <a:p>
                      <a:pPr algn="l"/>
                      <a:r>
                        <a:rPr lang="en-US" sz="1800" dirty="0"/>
                        <a:t>A Development of Web Based Placement Management System for Campus Recruitment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 err="1"/>
                        <a:t>Sachin</a:t>
                      </a:r>
                      <a:r>
                        <a:rPr lang="en-US" sz="1800" dirty="0"/>
                        <a:t> Shukla, S. K. </a:t>
                      </a:r>
                      <a:r>
                        <a:rPr lang="en-US" sz="1800" dirty="0" err="1"/>
                        <a:t>Shinde</a:t>
                      </a:r>
                      <a:r>
                        <a:rPr lang="en-US" sz="1800" dirty="0"/>
                        <a:t>, </a:t>
                      </a:r>
                      <a:r>
                        <a:rPr lang="en-US" sz="1800" dirty="0" err="1"/>
                        <a:t>Komal</a:t>
                      </a:r>
                      <a:r>
                        <a:rPr lang="en-US" sz="1800" dirty="0"/>
                        <a:t> </a:t>
                      </a:r>
                      <a:r>
                        <a:rPr lang="en-US" sz="1800" dirty="0" err="1"/>
                        <a:t>Jiwatode</a:t>
                      </a:r>
                      <a:r>
                        <a:rPr lang="en-US" sz="1800" dirty="0"/>
                        <a:t>, </a:t>
                      </a:r>
                      <a:r>
                        <a:rPr lang="en-US" sz="1800" dirty="0" err="1"/>
                        <a:t>Utkarsh</a:t>
                      </a:r>
                      <a:r>
                        <a:rPr lang="en-US" sz="1800" dirty="0"/>
                        <a:t> </a:t>
                      </a:r>
                      <a:r>
                        <a:rPr lang="en-US" sz="1800" dirty="0" err="1"/>
                        <a:t>Somvanshi</a:t>
                      </a:r>
                      <a:endParaRPr lang="en-US" sz="1800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/>
                        <a:t>Proposes an online system to automate placement activities and student data handling.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/>
                        <a:t>Web Development (JSP, Servlets), Database (MySQL), Real-time Notifications</a:t>
                      </a: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5521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800" dirty="0"/>
                        <a:t>Literature Survey on Student’s Performance Prediction in Education using Data Mining Techniques</a:t>
                      </a:r>
                    </a:p>
                    <a:p>
                      <a:pPr algn="l"/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800" dirty="0"/>
                        <a:t>Mukesh Kumar, A. J. Singh, Disha Handa</a:t>
                      </a:r>
                      <a:endParaRPr lang="en-US" sz="1800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/>
                        <a:t>Surveys data mining methods used to classify and predict student academic performance.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800" dirty="0"/>
                        <a:t>Classification </a:t>
                      </a:r>
                      <a:r>
                        <a:rPr lang="fr-FR" sz="1800" dirty="0" err="1"/>
                        <a:t>Algorithms</a:t>
                      </a:r>
                      <a:r>
                        <a:rPr lang="fr-FR" sz="1800" dirty="0"/>
                        <a:t>, Data Mining Techniques</a:t>
                      </a:r>
                      <a:endParaRPr lang="en-US" sz="1800"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6</a:t>
            </a:fld>
            <a:endParaRPr lang="en-US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6893642"/>
              </p:ext>
            </p:extLst>
          </p:nvPr>
        </p:nvGraphicFramePr>
        <p:xfrm>
          <a:off x="794328" y="719666"/>
          <a:ext cx="10741890" cy="5038092"/>
        </p:xfrm>
        <a:graphic>
          <a:graphicData uri="http://schemas.openxmlformats.org/drawingml/2006/table">
            <a:tbl>
              <a:tblPr firstRow="1" bandRow="1">
                <a:tableStyleId>{3CDD818E-ADFA-4579-856F-A3140DA02BD1}</a:tableStyleId>
              </a:tblPr>
              <a:tblGrid>
                <a:gridCol w="28447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022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022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9266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19168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400" u="none" strike="noStrike" cap="none" dirty="0">
                          <a:solidFill>
                            <a:schemeClr val="dk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TITLE OF PAPER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dirty="0">
                          <a:solidFill>
                            <a:schemeClr val="dk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AUTHOR(S)</a:t>
                      </a:r>
                      <a:endParaRPr lang="en-US" sz="2400" u="none" strike="noStrike" cap="none" dirty="0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400" u="none" strike="noStrike" cap="none" dirty="0">
                          <a:solidFill>
                            <a:schemeClr val="dk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PAPER GIST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 dirty="0">
                          <a:solidFill>
                            <a:schemeClr val="dk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TECHNOLOGY USED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91684">
                <a:tc>
                  <a:txBody>
                    <a:bodyPr/>
                    <a:lstStyle/>
                    <a:p>
                      <a:pPr algn="l"/>
                      <a:r>
                        <a:rPr lang="en-US" sz="1800" dirty="0"/>
                        <a:t>A Survey of machine learning techniques for student performance and placement</a:t>
                      </a:r>
                      <a:endParaRPr lang="en-US" sz="180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it-IT" sz="1800" dirty="0"/>
                        <a:t>Pallavi Devendra Tawde, Dr. Sarika Chouhan</a:t>
                      </a:r>
                      <a:endParaRPr lang="en-US" sz="180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/>
                        <a:t>Highlights how various models help institutions make data-driven academic decisions.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/>
                        <a:t>Machine Learning (Neural Networks, SVM, Decision Trees, Bayesian, Random Forest)</a:t>
                      </a:r>
                      <a:endParaRPr lang="en-US" sz="180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91684">
                <a:tc>
                  <a:txBody>
                    <a:bodyPr/>
                    <a:lstStyle/>
                    <a:p>
                      <a:pPr algn="l"/>
                      <a:r>
                        <a:rPr lang="en-US" sz="1800" dirty="0"/>
                        <a:t>A Survey: Predicting Academic Success in Higher Education: Literature Review and Best Practices</a:t>
                      </a:r>
                      <a:endParaRPr lang="en-US" sz="180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 err="1"/>
                        <a:t>Eyman</a:t>
                      </a:r>
                      <a:r>
                        <a:rPr lang="en-US" sz="1800" dirty="0"/>
                        <a:t> </a:t>
                      </a:r>
                      <a:r>
                        <a:rPr lang="en-US" sz="1800" dirty="0" err="1"/>
                        <a:t>Alyahyan</a:t>
                      </a:r>
                      <a:r>
                        <a:rPr lang="en-US" sz="1800" dirty="0"/>
                        <a:t> &amp; </a:t>
                      </a:r>
                      <a:r>
                        <a:rPr lang="en-US" sz="1800" dirty="0" err="1"/>
                        <a:t>Dilek</a:t>
                      </a:r>
                      <a:r>
                        <a:rPr lang="en-US" sz="1800" dirty="0"/>
                        <a:t> </a:t>
                      </a:r>
                      <a:r>
                        <a:rPr lang="en-US" sz="1800" dirty="0" err="1"/>
                        <a:t>Düştegör</a:t>
                      </a:r>
                      <a:endParaRPr lang="en-US" sz="180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/>
                        <a:t>Discusses best practices for improving prediction accuracy and student support systems.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/>
                        <a:t>Regression, Classification, Clustering, Association (ML + Data Mining)</a:t>
                      </a:r>
                      <a:endParaRPr lang="en-US" sz="180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91684">
                <a:tc>
                  <a:txBody>
                    <a:bodyPr/>
                    <a:lstStyle/>
                    <a:p>
                      <a:pPr algn="l"/>
                      <a:r>
                        <a:rPr lang="en-US" sz="1800" dirty="0" err="1"/>
                        <a:t>Litertature</a:t>
                      </a:r>
                      <a:r>
                        <a:rPr lang="en-US" sz="1800" dirty="0"/>
                        <a:t> Survey for Digital Transformation of Academic Activities Using Web Development</a:t>
                      </a:r>
                      <a:endParaRPr lang="en-US" sz="180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/>
                        <a:t>B. </a:t>
                      </a:r>
                      <a:r>
                        <a:rPr lang="en-US" sz="1800" dirty="0" err="1"/>
                        <a:t>Abhijith</a:t>
                      </a:r>
                      <a:r>
                        <a:rPr lang="en-US" sz="1800" dirty="0"/>
                        <a:t>, </a:t>
                      </a:r>
                      <a:r>
                        <a:rPr lang="en-US" sz="1800" dirty="0" err="1"/>
                        <a:t>Pushpak</a:t>
                      </a:r>
                      <a:r>
                        <a:rPr lang="en-US" sz="1800" dirty="0"/>
                        <a:t> S, </a:t>
                      </a:r>
                      <a:r>
                        <a:rPr lang="en-US" sz="1800" dirty="0" err="1"/>
                        <a:t>Krutharth</a:t>
                      </a:r>
                      <a:r>
                        <a:rPr lang="en-US" sz="1800" dirty="0"/>
                        <a:t> R, </a:t>
                      </a:r>
                      <a:r>
                        <a:rPr lang="en-US" sz="1800" dirty="0" err="1"/>
                        <a:t>Sarmad</a:t>
                      </a:r>
                      <a:r>
                        <a:rPr lang="en-US" sz="1800" dirty="0"/>
                        <a:t>, Dr. Nagaraj J</a:t>
                      </a:r>
                      <a:endParaRPr lang="en-US" sz="180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/>
                        <a:t>Emphasizes the role of web systems in automating records, communication, and academic management.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/>
                        <a:t>Web Development (Java, JSP, Servlets), MySQL Database</a:t>
                      </a:r>
                      <a:endParaRPr lang="en-US" sz="180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711606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t>7</a:t>
            </a:fld>
            <a:endParaRPr b="1">
              <a:solidFill>
                <a:schemeClr val="dk1"/>
              </a:solidFill>
            </a:endParaRPr>
          </a:p>
        </p:txBody>
      </p:sp>
      <p:sp>
        <p:nvSpPr>
          <p:cNvPr id="127" name="Google Shape;127;p6"/>
          <p:cNvSpPr txBox="1"/>
          <p:nvPr/>
        </p:nvSpPr>
        <p:spPr>
          <a:xfrm>
            <a:off x="-1" y="0"/>
            <a:ext cx="12345600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algn="ctr">
              <a:defRPr sz="4000" b="1">
                <a:solidFill>
                  <a:schemeClr val="dk1"/>
                </a:solidFill>
                <a:latin typeface="Arial Narrow"/>
                <a:ea typeface="Arial Narrow"/>
                <a:cs typeface="Arial Narrow"/>
              </a:defRPr>
            </a:lvl1pPr>
          </a:lstStyle>
          <a:p>
            <a:r>
              <a:rPr lang="en-US" dirty="0">
                <a:sym typeface="Arial Narrow"/>
              </a:rPr>
              <a:t>EXISTING SYSTEM </a:t>
            </a:r>
            <a:r>
              <a:rPr lang="en-US" dirty="0"/>
              <a:t>ARCHITECTURE</a:t>
            </a:r>
            <a:endParaRPr dirty="0">
              <a:sym typeface="Arial Narrow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0362" y="794327"/>
            <a:ext cx="10743438" cy="580740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>
          <a:extLst>
            <a:ext uri="{FF2B5EF4-FFF2-40B4-BE49-F238E27FC236}">
              <a16:creationId xmlns:a16="http://schemas.microsoft.com/office/drawing/2014/main" id="{7FEFE7C5-B014-B248-A280-1360BE6D6E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6">
            <a:extLst>
              <a:ext uri="{FF2B5EF4-FFF2-40B4-BE49-F238E27FC236}">
                <a16:creationId xmlns:a16="http://schemas.microsoft.com/office/drawing/2014/main" id="{8DDF3340-775D-1206-5F9C-2A604B9E05F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t>8</a:t>
            </a:fld>
            <a:endParaRPr b="1">
              <a:solidFill>
                <a:schemeClr val="dk1"/>
              </a:solidFill>
            </a:endParaRPr>
          </a:p>
        </p:txBody>
      </p:sp>
      <p:sp>
        <p:nvSpPr>
          <p:cNvPr id="127" name="Google Shape;127;p6">
            <a:extLst>
              <a:ext uri="{FF2B5EF4-FFF2-40B4-BE49-F238E27FC236}">
                <a16:creationId xmlns:a16="http://schemas.microsoft.com/office/drawing/2014/main" id="{1F26A455-1F7F-0E24-548B-1E2404FC73D5}"/>
              </a:ext>
            </a:extLst>
          </p:cNvPr>
          <p:cNvSpPr txBox="1"/>
          <p:nvPr/>
        </p:nvSpPr>
        <p:spPr>
          <a:xfrm>
            <a:off x="-1" y="0"/>
            <a:ext cx="12345600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algn="ctr">
              <a:defRPr sz="4000" b="1">
                <a:solidFill>
                  <a:schemeClr val="dk1"/>
                </a:solidFill>
                <a:latin typeface="Arial Narrow"/>
                <a:ea typeface="Arial Narrow"/>
                <a:cs typeface="Arial Narrow"/>
              </a:defRPr>
            </a:lvl1pPr>
          </a:lstStyle>
          <a:p>
            <a:r>
              <a:rPr lang="en-US" dirty="0">
                <a:sym typeface="Arial Narrow"/>
              </a:rPr>
              <a:t>PROBLEM IDENTIFICAITON</a:t>
            </a:r>
            <a:endParaRPr dirty="0">
              <a:sym typeface="Arial Narrow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2ABDA42-5836-D2E3-1290-9E9478C88B40}"/>
              </a:ext>
            </a:extLst>
          </p:cNvPr>
          <p:cNvSpPr txBox="1"/>
          <p:nvPr/>
        </p:nvSpPr>
        <p:spPr>
          <a:xfrm>
            <a:off x="702129" y="1198313"/>
            <a:ext cx="10270671" cy="50084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arenR"/>
            </a:pPr>
            <a:r>
              <a:rPr lang="en-US" sz="2400" b="1" dirty="0">
                <a:latin typeface="Arial Narrow" panose="020B0606020202030204" pitchFamily="34" charset="0"/>
              </a:rPr>
              <a:t>Data Fragmentation: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Arial Narrow" panose="020B0606020202030204" pitchFamily="34" charset="0"/>
              </a:rPr>
              <a:t>Academic records and placement details were stored on separate platforms, making it difficult to access or correlate student performance with placement outcomes.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latin typeface="Arial Narrow" panose="020B0606020202030204" pitchFamily="34" charset="0"/>
              </a:rPr>
              <a:t>2) Redundant Data Entry: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Arial Narrow" panose="020B0606020202030204" pitchFamily="34" charset="0"/>
              </a:rPr>
              <a:t>Students and administrators had to enter the same information (like personal or academic details) multiple times on both systems, leading to duplication and inconsistencies.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latin typeface="Arial Narrow" panose="020B0606020202030204" pitchFamily="34" charset="0"/>
              </a:rPr>
              <a:t>3) Lack of Unified Analytics: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Arial Narrow" panose="020B0606020202030204" pitchFamily="34" charset="0"/>
              </a:rPr>
              <a:t>Since academic and placement data were isolated, it was not possible to generate combined reports or analyze how academic performance influenced placement results.</a:t>
            </a:r>
          </a:p>
        </p:txBody>
      </p:sp>
    </p:spTree>
    <p:extLst>
      <p:ext uri="{BB962C8B-B14F-4D97-AF65-F5344CB8AC3E}">
        <p14:creationId xmlns:p14="http://schemas.microsoft.com/office/powerpoint/2010/main" val="30148616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F3FE823-ECB7-7B7A-DAA1-C830EBD7C52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9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0BE16E-248B-1807-9C7A-7A49403372BA}"/>
              </a:ext>
            </a:extLst>
          </p:cNvPr>
          <p:cNvSpPr txBox="1"/>
          <p:nvPr/>
        </p:nvSpPr>
        <p:spPr>
          <a:xfrm>
            <a:off x="1246694" y="1078625"/>
            <a:ext cx="9188777" cy="3346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>
                <a:latin typeface="Arial Narrow" panose="020B0606020202030204" pitchFamily="34" charset="0"/>
              </a:rPr>
              <a:t>4) Inefficient Communication: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Arial Narrow" panose="020B0606020202030204" pitchFamily="34" charset="0"/>
              </a:rPr>
              <a:t>Placement officers and faculty could not easily coordinate or share updates about student progress or eligibility, causing delays in information flow.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latin typeface="Arial Narrow" panose="020B0606020202030204" pitchFamily="34" charset="0"/>
              </a:rPr>
              <a:t>5) Poor User Experience: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Arial Narrow" panose="020B0606020202030204" pitchFamily="34" charset="0"/>
              </a:rPr>
              <a:t>Users had to manage multiple logins and navigate between two interfaces, which reduced usability and increased confusion for both students and administrators.</a:t>
            </a:r>
          </a:p>
        </p:txBody>
      </p:sp>
    </p:spTree>
    <p:extLst>
      <p:ext uri="{BB962C8B-B14F-4D97-AF65-F5344CB8AC3E}">
        <p14:creationId xmlns:p14="http://schemas.microsoft.com/office/powerpoint/2010/main" val="17513780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t>10</a:t>
            </a:fld>
            <a:endParaRPr b="1">
              <a:solidFill>
                <a:schemeClr val="dk1"/>
              </a:solidFill>
            </a:endParaRPr>
          </a:p>
        </p:txBody>
      </p:sp>
      <p:sp>
        <p:nvSpPr>
          <p:cNvPr id="133" name="Google Shape;133;p7"/>
          <p:cNvSpPr txBox="1"/>
          <p:nvPr/>
        </p:nvSpPr>
        <p:spPr>
          <a:xfrm>
            <a:off x="-1" y="0"/>
            <a:ext cx="121920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/>
            <a:r>
              <a:rPr lang="en-US" sz="4000" b="1" dirty="0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PROPOSED </a:t>
            </a:r>
            <a:r>
              <a:rPr lang="en-US" sz="4000" b="1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SYSTEM </a:t>
            </a:r>
            <a:r>
              <a:rPr lang="en-US" sz="4000" b="1" dirty="0">
                <a:solidFill>
                  <a:schemeClr val="dk1"/>
                </a:solidFill>
                <a:latin typeface="Arial Narrow"/>
              </a:rPr>
              <a:t>ARCHITECTURE</a:t>
            </a:r>
            <a:endParaRPr sz="4000" b="1" dirty="0">
              <a:solidFill>
                <a:schemeClr val="dk1"/>
              </a:solidFill>
              <a:latin typeface="Arial Narrow"/>
              <a:sym typeface="Arial Narrow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7055" y="1266824"/>
            <a:ext cx="8996218" cy="497695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8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b="1">
                <a:latin typeface="Arial Narrow"/>
                <a:ea typeface="Arial Narrow"/>
                <a:cs typeface="Arial Narrow"/>
                <a:sym typeface="Arial Narrow"/>
              </a:rPr>
              <a:t>SOFTWARE AND HARDWARE REQUIREMENTS </a:t>
            </a:r>
            <a:endParaRPr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39" name="Google Shape;139;p8"/>
          <p:cNvSpPr txBox="1">
            <a:spLocks noGrp="1"/>
          </p:cNvSpPr>
          <p:nvPr>
            <p:ph type="body" idx="2"/>
          </p:nvPr>
        </p:nvSpPr>
        <p:spPr>
          <a:xfrm>
            <a:off x="584461" y="2671762"/>
            <a:ext cx="5109329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b="1" dirty="0">
                <a:latin typeface="Arial Narrow"/>
                <a:ea typeface="Arial Narrow"/>
                <a:cs typeface="Arial Narrow"/>
                <a:sym typeface="Arial Narrow"/>
              </a:rPr>
              <a:t>HARDWARE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dirty="0">
              <a:latin typeface="Arial Narrow"/>
              <a:ea typeface="Arial Narrow"/>
              <a:cs typeface="Arial Narrow"/>
              <a:sym typeface="Arial Narrow"/>
            </a:endParaRPr>
          </a:p>
          <a:p>
            <a:pPr marL="0" lvl="0" indent="0">
              <a:spcBef>
                <a:spcPts val="0"/>
              </a:spcBef>
              <a:buClr>
                <a:srgbClr val="FF0000"/>
              </a:buClr>
              <a:buSzPts val="2800"/>
              <a:buNone/>
            </a:pPr>
            <a:r>
              <a:rPr lang="en-IN" sz="2400" dirty="0">
                <a:solidFill>
                  <a:schemeClr val="tx1"/>
                </a:solidFill>
                <a:latin typeface="Arial Narrow"/>
                <a:ea typeface="Arial Narrow"/>
                <a:cs typeface="Arial Narrow"/>
                <a:sym typeface="Arial Narrow"/>
              </a:rPr>
              <a:t>1. </a:t>
            </a:r>
            <a:r>
              <a:rPr lang="en-IN" sz="2400" b="1" dirty="0">
                <a:solidFill>
                  <a:schemeClr val="tx1"/>
                </a:solidFill>
                <a:latin typeface="Arial Narrow"/>
                <a:ea typeface="Arial Narrow"/>
                <a:cs typeface="Arial Narrow"/>
                <a:sym typeface="Arial Narrow"/>
              </a:rPr>
              <a:t>Processor: </a:t>
            </a:r>
            <a:r>
              <a:rPr lang="en-IN" sz="2400" dirty="0">
                <a:solidFill>
                  <a:schemeClr val="tx1"/>
                </a:solidFill>
                <a:latin typeface="Arial Narrow"/>
                <a:ea typeface="Arial Narrow"/>
                <a:cs typeface="Arial Narrow"/>
                <a:sym typeface="Arial Narrow"/>
              </a:rPr>
              <a:t>Dual-core or higher (Intel i3)</a:t>
            </a:r>
          </a:p>
          <a:p>
            <a:pPr marL="0" lvl="0" indent="0">
              <a:spcBef>
                <a:spcPts val="0"/>
              </a:spcBef>
              <a:buClr>
                <a:srgbClr val="FF0000"/>
              </a:buClr>
              <a:buSzPts val="2800"/>
              <a:buNone/>
            </a:pPr>
            <a:r>
              <a:rPr lang="en-IN" sz="2400" dirty="0">
                <a:solidFill>
                  <a:schemeClr val="tx1"/>
                </a:solidFill>
                <a:latin typeface="Arial Narrow"/>
                <a:ea typeface="Arial Narrow"/>
                <a:cs typeface="Arial Narrow"/>
                <a:sym typeface="Arial Narrow"/>
              </a:rPr>
              <a:t>2. </a:t>
            </a:r>
            <a:r>
              <a:rPr lang="en-IN" sz="2400" b="1" dirty="0">
                <a:solidFill>
                  <a:schemeClr val="tx1"/>
                </a:solidFill>
                <a:latin typeface="Arial Narrow"/>
                <a:ea typeface="Arial Narrow"/>
                <a:cs typeface="Arial Narrow"/>
                <a:sym typeface="Arial Narrow"/>
              </a:rPr>
              <a:t>RAM: </a:t>
            </a:r>
            <a:r>
              <a:rPr lang="en-IN" sz="2400" dirty="0">
                <a:solidFill>
                  <a:schemeClr val="tx1"/>
                </a:solidFill>
                <a:latin typeface="Arial Narrow"/>
                <a:ea typeface="Arial Narrow"/>
                <a:cs typeface="Arial Narrow"/>
                <a:sym typeface="Arial Narrow"/>
              </a:rPr>
              <a:t>Minimum 4 GB (8 GB recommended)</a:t>
            </a:r>
          </a:p>
          <a:p>
            <a:pPr marL="0" lvl="0" indent="0">
              <a:spcBef>
                <a:spcPts val="0"/>
              </a:spcBef>
              <a:buClr>
                <a:srgbClr val="FF0000"/>
              </a:buClr>
              <a:buSzPts val="2800"/>
              <a:buNone/>
            </a:pPr>
            <a:r>
              <a:rPr lang="en-IN" sz="2400" dirty="0">
                <a:solidFill>
                  <a:schemeClr val="tx1"/>
                </a:solidFill>
                <a:latin typeface="Arial Narrow"/>
                <a:ea typeface="Arial Narrow"/>
                <a:cs typeface="Arial Narrow"/>
                <a:sym typeface="Arial Narrow"/>
              </a:rPr>
              <a:t>3. </a:t>
            </a:r>
            <a:r>
              <a:rPr lang="en-IN" sz="2400" b="1" dirty="0">
                <a:latin typeface="Arial Narrow"/>
                <a:ea typeface="Arial Narrow"/>
                <a:cs typeface="Arial Narrow"/>
                <a:sym typeface="Arial Narrow"/>
              </a:rPr>
              <a:t>Storage: </a:t>
            </a:r>
            <a:r>
              <a:rPr lang="en-IN" sz="2400" dirty="0">
                <a:latin typeface="Arial Narrow"/>
                <a:ea typeface="Arial Narrow"/>
                <a:cs typeface="Arial Narrow"/>
                <a:sym typeface="Arial Narrow"/>
              </a:rPr>
              <a:t>Minimum 500 MB free space </a:t>
            </a:r>
            <a:endParaRPr sz="2400" dirty="0">
              <a:latin typeface="Arial Narrow"/>
              <a:ea typeface="Arial Narrow"/>
              <a:cs typeface="Arial Narrow"/>
              <a:sym typeface="Arial Narrow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</a:pPr>
            <a:endParaRPr dirty="0"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40" name="Google Shape;140;p8"/>
          <p:cNvSpPr txBox="1">
            <a:spLocks noGrp="1"/>
          </p:cNvSpPr>
          <p:nvPr>
            <p:ph type="body" idx="4"/>
          </p:nvPr>
        </p:nvSpPr>
        <p:spPr>
          <a:xfrm>
            <a:off x="6259398" y="2539370"/>
            <a:ext cx="5861733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b="1" dirty="0">
                <a:latin typeface="Arial Narrow"/>
                <a:ea typeface="Arial Narrow"/>
                <a:cs typeface="Arial Narrow"/>
                <a:sym typeface="Arial Narrow"/>
              </a:rPr>
              <a:t>SOFTWARE</a:t>
            </a:r>
            <a:endParaRPr b="1" dirty="0">
              <a:latin typeface="Arial Narrow"/>
              <a:ea typeface="Arial Narrow"/>
              <a:cs typeface="Arial Narrow"/>
              <a:sym typeface="Arial Narrow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</a:pPr>
            <a:endParaRPr dirty="0">
              <a:latin typeface="Arial Narrow"/>
              <a:ea typeface="Arial Narrow"/>
              <a:cs typeface="Arial Narrow"/>
              <a:sym typeface="Arial Narrow"/>
            </a:endParaRPr>
          </a:p>
          <a:p>
            <a:pPr marL="0" lvl="0" indent="0">
              <a:spcBef>
                <a:spcPts val="0"/>
              </a:spcBef>
              <a:buClr>
                <a:srgbClr val="FF0000"/>
              </a:buClr>
              <a:buSzPts val="2800"/>
              <a:buNone/>
            </a:pPr>
            <a:r>
              <a:rPr lang="en-US" sz="2400" dirty="0">
                <a:latin typeface="Arial Narrow"/>
                <a:ea typeface="Arial Narrow"/>
                <a:cs typeface="Arial Narrow"/>
                <a:sym typeface="Arial Narrow"/>
              </a:rPr>
              <a:t>1.</a:t>
            </a:r>
            <a:r>
              <a:rPr lang="it-IT" sz="2400" dirty="0">
                <a:latin typeface="Arial Narrow"/>
                <a:ea typeface="Arial Narrow"/>
                <a:cs typeface="Arial Narrow"/>
                <a:sym typeface="Arial Narrow"/>
              </a:rPr>
              <a:t> </a:t>
            </a:r>
            <a:r>
              <a:rPr lang="it-IT" sz="2400" b="1" dirty="0">
                <a:latin typeface="Arial Narrow"/>
                <a:ea typeface="Arial Narrow"/>
                <a:cs typeface="Arial Narrow"/>
                <a:sym typeface="Arial Narrow"/>
              </a:rPr>
              <a:t>AI Integration:</a:t>
            </a:r>
            <a:r>
              <a:rPr lang="it-IT" sz="2400" dirty="0">
                <a:latin typeface="Arial Narrow"/>
                <a:ea typeface="Arial Narrow"/>
                <a:cs typeface="Arial Narrow"/>
                <a:sym typeface="Arial Narrow"/>
              </a:rPr>
              <a:t>Google Gemini API </a:t>
            </a:r>
            <a:endParaRPr sz="2400" dirty="0">
              <a:latin typeface="Arial Narrow"/>
              <a:ea typeface="Arial Narrow"/>
              <a:cs typeface="Arial Narrow"/>
              <a:sym typeface="Arial Narrow"/>
            </a:endParaRPr>
          </a:p>
          <a:p>
            <a:pPr marL="0" lvl="0" indent="0">
              <a:buClr>
                <a:srgbClr val="FF0000"/>
              </a:buClr>
              <a:buSzPts val="2800"/>
              <a:buNone/>
            </a:pPr>
            <a:r>
              <a:rPr lang="en-US" sz="2400" dirty="0">
                <a:latin typeface="Arial Narrow"/>
                <a:ea typeface="Arial Narrow"/>
                <a:cs typeface="Arial Narrow"/>
                <a:sym typeface="Arial Narrow"/>
              </a:rPr>
              <a:t>2. </a:t>
            </a:r>
            <a:r>
              <a:rPr lang="en-US" sz="2400" b="1" dirty="0">
                <a:latin typeface="Arial Narrow"/>
                <a:ea typeface="Arial Narrow"/>
                <a:cs typeface="Arial Narrow"/>
                <a:sym typeface="Arial Narrow"/>
              </a:rPr>
              <a:t>Backend Framework: </a:t>
            </a:r>
            <a:r>
              <a:rPr lang="en-US" sz="2400" dirty="0">
                <a:latin typeface="Arial Narrow"/>
                <a:ea typeface="Arial Narrow"/>
                <a:cs typeface="Arial Narrow"/>
                <a:sym typeface="Arial Narrow"/>
              </a:rPr>
              <a:t>Django 5.x</a:t>
            </a:r>
            <a:endParaRPr sz="2400" dirty="0">
              <a:latin typeface="Arial Narrow"/>
              <a:ea typeface="Arial Narrow"/>
              <a:cs typeface="Arial Narrow"/>
              <a:sym typeface="Arial Narrow"/>
            </a:endParaRPr>
          </a:p>
          <a:p>
            <a:pPr marL="0" lvl="0" indent="0">
              <a:buClr>
                <a:srgbClr val="FF0000"/>
              </a:buClr>
              <a:buSzPts val="2800"/>
              <a:buNone/>
            </a:pPr>
            <a:r>
              <a:rPr lang="en-US" sz="2400" dirty="0">
                <a:latin typeface="Arial Narrow"/>
                <a:ea typeface="Arial Narrow"/>
                <a:cs typeface="Arial Narrow"/>
                <a:sym typeface="Arial Narrow"/>
              </a:rPr>
              <a:t>3.</a:t>
            </a:r>
            <a:r>
              <a:rPr lang="en-IN" sz="2400" dirty="0">
                <a:latin typeface="Arial Narrow"/>
                <a:ea typeface="Arial Narrow"/>
                <a:cs typeface="Arial Narrow"/>
                <a:sym typeface="Arial Narrow"/>
              </a:rPr>
              <a:t> </a:t>
            </a:r>
            <a:r>
              <a:rPr lang="en-IN" sz="2400" b="1" dirty="0">
                <a:latin typeface="Arial Narrow"/>
                <a:ea typeface="Arial Narrow"/>
                <a:cs typeface="Arial Narrow"/>
                <a:sym typeface="Arial Narrow"/>
              </a:rPr>
              <a:t>Database: </a:t>
            </a:r>
            <a:r>
              <a:rPr lang="en-IN" sz="2400" dirty="0">
                <a:latin typeface="Arial Narrow"/>
                <a:ea typeface="Arial Narrow"/>
                <a:cs typeface="Arial Narrow"/>
                <a:sym typeface="Arial Narrow"/>
              </a:rPr>
              <a:t>SQLite (development),MySQL / PostgreSQL</a:t>
            </a:r>
          </a:p>
          <a:p>
            <a:pPr marL="0" lvl="0" indent="0">
              <a:buClr>
                <a:srgbClr val="FF0000"/>
              </a:buClr>
              <a:buSzPts val="2800"/>
              <a:buNone/>
            </a:pPr>
            <a:r>
              <a:rPr lang="en-IN" sz="2400" dirty="0">
                <a:latin typeface="Arial Narrow"/>
                <a:ea typeface="Arial Narrow"/>
                <a:cs typeface="Arial Narrow"/>
                <a:sym typeface="Arial Narrow"/>
              </a:rPr>
              <a:t>4. </a:t>
            </a:r>
            <a:r>
              <a:rPr lang="en-IN" sz="2400" b="1" dirty="0">
                <a:latin typeface="Arial Narrow"/>
                <a:ea typeface="Arial Narrow"/>
                <a:cs typeface="Arial Narrow"/>
                <a:sym typeface="Arial Narrow"/>
              </a:rPr>
              <a:t>Libraries: </a:t>
            </a:r>
            <a:r>
              <a:rPr lang="en-IN" sz="2400" dirty="0" err="1">
                <a:latin typeface="Arial Narrow"/>
                <a:ea typeface="Arial Narrow"/>
                <a:cs typeface="Arial Narrow"/>
                <a:sym typeface="Arial Narrow"/>
              </a:rPr>
              <a:t>Django,google-genai</a:t>
            </a:r>
            <a:r>
              <a:rPr lang="en-IN" sz="2400" dirty="0">
                <a:latin typeface="Arial Narrow"/>
                <a:ea typeface="Arial Narrow"/>
                <a:cs typeface="Arial Narrow"/>
                <a:sym typeface="Arial Narrow"/>
              </a:rPr>
              <a:t> </a:t>
            </a:r>
            <a:endParaRPr sz="2400" dirty="0"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41" name="Google Shape;141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t>11</a:t>
            </a:fld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9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61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None/>
            </a:pPr>
            <a:r>
              <a:rPr lang="en-US" b="1">
                <a:latin typeface="Arial Narrow"/>
                <a:ea typeface="Arial Narrow"/>
                <a:cs typeface="Arial Narrow"/>
                <a:sym typeface="Arial Narrow"/>
              </a:rPr>
              <a:t>MODULES </a:t>
            </a:r>
            <a:endParaRPr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47" name="Google Shape;147;p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dirty="0">
                <a:solidFill>
                  <a:schemeClr val="tx1"/>
                </a:solidFill>
                <a:latin typeface="Arial Narrow" panose="020B0606020202030204" pitchFamily="34" charset="0"/>
              </a:rPr>
              <a:t>1.Student Information Management Module</a:t>
            </a:r>
          </a:p>
          <a:p>
            <a:pPr marL="0" lvl="0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dirty="0">
                <a:solidFill>
                  <a:schemeClr val="tx1"/>
                </a:solidFill>
                <a:latin typeface="Arial Narrow" panose="020B0606020202030204" pitchFamily="34" charset="0"/>
              </a:rPr>
              <a:t>2.Academic Performance Tracking Module</a:t>
            </a:r>
          </a:p>
          <a:p>
            <a:pPr marL="0" lvl="0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dirty="0">
                <a:solidFill>
                  <a:schemeClr val="tx1"/>
                </a:solidFill>
                <a:latin typeface="Arial Narrow" panose="020B0606020202030204" pitchFamily="34" charset="0"/>
              </a:rPr>
              <a:t>3.Placement Records Management Module</a:t>
            </a:r>
          </a:p>
          <a:p>
            <a:pPr marL="0" lvl="0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dirty="0">
                <a:solidFill>
                  <a:schemeClr val="tx1"/>
                </a:solidFill>
                <a:latin typeface="Arial Narrow" panose="020B0606020202030204" pitchFamily="34" charset="0"/>
              </a:rPr>
              <a:t>4.Reporting and Analytics Module</a:t>
            </a:r>
          </a:p>
          <a:p>
            <a:pPr marL="0" lvl="0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dirty="0">
                <a:solidFill>
                  <a:schemeClr val="tx1"/>
                </a:solidFill>
                <a:latin typeface="Arial Narrow" panose="020B0606020202030204" pitchFamily="34" charset="0"/>
              </a:rPr>
              <a:t>5.User Access and Administration Module</a:t>
            </a:r>
          </a:p>
        </p:txBody>
      </p:sp>
      <p:sp>
        <p:nvSpPr>
          <p:cNvPr id="148" name="Google Shape;148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t>12</a:t>
            </a:fld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1460C30-7B81-12FE-9D02-BCEC3F82CF4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13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93553BA-557E-EDD5-5A07-4CB2BF81A11A}"/>
              </a:ext>
            </a:extLst>
          </p:cNvPr>
          <p:cNvSpPr txBox="1"/>
          <p:nvPr/>
        </p:nvSpPr>
        <p:spPr>
          <a:xfrm>
            <a:off x="1802876" y="1303331"/>
            <a:ext cx="9094509" cy="47622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latin typeface="Arial Narrow" panose="020B0606020202030204" pitchFamily="34" charset="0"/>
              </a:rPr>
              <a:t>	</a:t>
            </a:r>
            <a:r>
              <a:rPr lang="en-IN" sz="3200" b="1" dirty="0">
                <a:latin typeface="Arial Narrow" panose="020B0606020202030204" pitchFamily="34" charset="0"/>
              </a:rPr>
              <a:t>Student Information Management Module</a:t>
            </a:r>
          </a:p>
          <a:p>
            <a:endParaRPr lang="en-IN" sz="2400" b="1" dirty="0">
              <a:latin typeface="Arial Narrow" panose="020B0606020202030204" pitchFamily="34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Arial Narrow" panose="020B0606020202030204" pitchFamily="34" charset="0"/>
              </a:rPr>
              <a:t>Stores complete student profiles including personal, academic, and contact details.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Arial Narrow" panose="020B0606020202030204" pitchFamily="34" charset="0"/>
              </a:rPr>
              <a:t>Centralized database to access and update student records efficiently.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Arial Narrow" panose="020B0606020202030204" pitchFamily="34" charset="0"/>
              </a:rPr>
              <a:t>Supports categorization by department, year, and batch for quick retrieval.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Arial Narrow" panose="020B0606020202030204" pitchFamily="34" charset="0"/>
              </a:rPr>
              <a:t>Ensures data accuracy and minimizes duplication through validation checks.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Arial Narrow" panose="020B0606020202030204" pitchFamily="34" charset="0"/>
              </a:rPr>
              <a:t>Acts as the foundational layer for all other academic and placement operations.</a:t>
            </a:r>
          </a:p>
        </p:txBody>
      </p:sp>
    </p:spTree>
    <p:extLst>
      <p:ext uri="{BB962C8B-B14F-4D97-AF65-F5344CB8AC3E}">
        <p14:creationId xmlns:p14="http://schemas.microsoft.com/office/powerpoint/2010/main" val="34736324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4037EE7-4651-D9C2-7051-980BD37AD58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14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2FA4E82-1601-546E-B064-3CF8056330A0}"/>
              </a:ext>
            </a:extLst>
          </p:cNvPr>
          <p:cNvSpPr txBox="1"/>
          <p:nvPr/>
        </p:nvSpPr>
        <p:spPr>
          <a:xfrm>
            <a:off x="1772239" y="1310325"/>
            <a:ext cx="9728462" cy="37773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3200" b="1" dirty="0">
                <a:latin typeface="Arial Narrow" panose="020B0606020202030204" pitchFamily="34" charset="0"/>
              </a:rPr>
              <a:t>	Academic Performance Tracking Module</a:t>
            </a:r>
          </a:p>
          <a:p>
            <a:pPr>
              <a:buNone/>
            </a:pPr>
            <a:endParaRPr lang="en-IN" sz="3200" b="1" dirty="0">
              <a:latin typeface="Arial Narrow" panose="020B0606020202030204" pitchFamily="34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Arial Narrow" panose="020B0606020202030204" pitchFamily="34" charset="0"/>
              </a:rPr>
              <a:t>Tracks semester-wise CGPA, grades, internal marks, and attendance.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Arial Narrow" panose="020B0606020202030204" pitchFamily="34" charset="0"/>
              </a:rPr>
              <a:t>Provides visual insights through charts and progress graphs.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Arial Narrow" panose="020B0606020202030204" pitchFamily="34" charset="0"/>
              </a:rPr>
              <a:t>Helps identify academically weak or high-performing students.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Arial Narrow" panose="020B0606020202030204" pitchFamily="34" charset="0"/>
              </a:rPr>
              <a:t>Enables faculty to monitor academic growth and offer timely support.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Arial Narrow" panose="020B0606020202030204" pitchFamily="34" charset="0"/>
              </a:rPr>
              <a:t>Facilitates automated report generation for academic reviews and audits.</a:t>
            </a:r>
          </a:p>
        </p:txBody>
      </p:sp>
    </p:spTree>
    <p:extLst>
      <p:ext uri="{BB962C8B-B14F-4D97-AF65-F5344CB8AC3E}">
        <p14:creationId xmlns:p14="http://schemas.microsoft.com/office/powerpoint/2010/main" val="39746595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699261F-9366-5E47-65BE-9A135F4E064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15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076B5FA-302D-F5BD-4531-37C8663518FE}"/>
              </a:ext>
            </a:extLst>
          </p:cNvPr>
          <p:cNvSpPr txBox="1"/>
          <p:nvPr/>
        </p:nvSpPr>
        <p:spPr>
          <a:xfrm>
            <a:off x="1245911" y="1029265"/>
            <a:ext cx="9566634" cy="46390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sz="2400" b="1" dirty="0">
                <a:latin typeface="Arial Narrow" panose="020B0606020202030204" pitchFamily="34" charset="0"/>
              </a:rPr>
              <a:t>	</a:t>
            </a:r>
            <a:r>
              <a:rPr lang="en-IN" sz="3200" b="1" dirty="0">
                <a:latin typeface="Arial Narrow" panose="020B0606020202030204" pitchFamily="34" charset="0"/>
              </a:rPr>
              <a:t>Placement Records Management Module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Arial Narrow" panose="020B0606020202030204" pitchFamily="34" charset="0"/>
              </a:rPr>
              <a:t>Stores details of campus drives, recruiters, job roles, and eligibility criteria.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Arial Narrow" panose="020B0606020202030204" pitchFamily="34" charset="0"/>
              </a:rPr>
              <a:t>Tracks each student’s placement status, offer letters, and company details.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Arial Narrow" panose="020B0606020202030204" pitchFamily="34" charset="0"/>
              </a:rPr>
              <a:t>Helps placement officers maintain updated records of selected and unplaced students.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Arial Narrow" panose="020B0606020202030204" pitchFamily="34" charset="0"/>
              </a:rPr>
              <a:t>Provides insights into hiring trends and recruiter participation.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Arial Narrow" panose="020B0606020202030204" pitchFamily="34" charset="0"/>
              </a:rPr>
              <a:t>Ensures smooth coordination between students, mentors, and the placement cell.</a:t>
            </a:r>
          </a:p>
        </p:txBody>
      </p:sp>
    </p:spTree>
    <p:extLst>
      <p:ext uri="{BB962C8B-B14F-4D97-AF65-F5344CB8AC3E}">
        <p14:creationId xmlns:p14="http://schemas.microsoft.com/office/powerpoint/2010/main" val="42681641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6DEF9EA-1184-2D87-8760-A86812149AA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16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16ABF2-965E-9215-F97D-189A54034ED7}"/>
              </a:ext>
            </a:extLst>
          </p:cNvPr>
          <p:cNvSpPr txBox="1"/>
          <p:nvPr/>
        </p:nvSpPr>
        <p:spPr>
          <a:xfrm>
            <a:off x="1623766" y="1405652"/>
            <a:ext cx="9144785" cy="40850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sz="3200" b="1" dirty="0">
                <a:latin typeface="Arial Narrow" panose="020B0606020202030204" pitchFamily="34" charset="0"/>
              </a:rPr>
              <a:t>		Reporting and Analytics Module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Arial Narrow" panose="020B0606020202030204" pitchFamily="34" charset="0"/>
              </a:rPr>
              <a:t>Generates detailed reports on academic, placement, and attendance data.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Arial Narrow" panose="020B0606020202030204" pitchFamily="34" charset="0"/>
              </a:rPr>
              <a:t>Provides graphical dashboards for fast decision-making.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Arial Narrow" panose="020B0606020202030204" pitchFamily="34" charset="0"/>
              </a:rPr>
              <a:t>Helps </a:t>
            </a:r>
            <a:r>
              <a:rPr lang="en-IN" sz="2400" dirty="0" err="1">
                <a:latin typeface="Arial Narrow" panose="020B0606020202030204" pitchFamily="34" charset="0"/>
              </a:rPr>
              <a:t>analyze</a:t>
            </a:r>
            <a:r>
              <a:rPr lang="en-IN" sz="2400" dirty="0">
                <a:latin typeface="Arial Narrow" panose="020B0606020202030204" pitchFamily="34" charset="0"/>
              </a:rPr>
              <a:t> trends such as CGPA improvement, placement ratios, and student performance.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Arial Narrow" panose="020B0606020202030204" pitchFamily="34" charset="0"/>
              </a:rPr>
              <a:t>Offers customizable filters for department-wise or batch-wise analytics.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Arial Narrow" panose="020B0606020202030204" pitchFamily="34" charset="0"/>
              </a:rPr>
              <a:t>Supports data-driven planning for institutional improvements.</a:t>
            </a:r>
          </a:p>
        </p:txBody>
      </p:sp>
    </p:spTree>
    <p:extLst>
      <p:ext uri="{BB962C8B-B14F-4D97-AF65-F5344CB8AC3E}">
        <p14:creationId xmlns:p14="http://schemas.microsoft.com/office/powerpoint/2010/main" val="15165727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15B94DD-2347-6CC1-ED5E-435B0FA89EC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17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014383E-2D8F-751C-5222-A76736C19794}"/>
              </a:ext>
            </a:extLst>
          </p:cNvPr>
          <p:cNvSpPr txBox="1"/>
          <p:nvPr/>
        </p:nvSpPr>
        <p:spPr>
          <a:xfrm>
            <a:off x="1416770" y="1082534"/>
            <a:ext cx="9358459" cy="40850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sz="2800" b="1" dirty="0">
                <a:latin typeface="Arial Narrow" panose="020B0606020202030204" pitchFamily="34" charset="0"/>
              </a:rPr>
              <a:t>	 </a:t>
            </a:r>
            <a:r>
              <a:rPr lang="en-IN" sz="3200" b="1" dirty="0">
                <a:latin typeface="Arial Narrow" panose="020B0606020202030204" pitchFamily="34" charset="0"/>
              </a:rPr>
              <a:t>User Access and Administration Module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Arial Narrow" panose="020B0606020202030204" pitchFamily="34" charset="0"/>
              </a:rPr>
              <a:t>Manages login roles for students, mentors, placement officers, and administrators.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Arial Narrow" panose="020B0606020202030204" pitchFamily="34" charset="0"/>
              </a:rPr>
              <a:t>Ensures secure access using authentication and permission controls.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Arial Narrow" panose="020B0606020202030204" pitchFamily="34" charset="0"/>
              </a:rPr>
              <a:t>Allows admins to add, edit, or remove users and assign privileges.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Arial Narrow" panose="020B0606020202030204" pitchFamily="34" charset="0"/>
              </a:rPr>
              <a:t>Maintains data confidentiality by restricting unauthorized access.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Arial Narrow" panose="020B0606020202030204" pitchFamily="34" charset="0"/>
              </a:rPr>
              <a:t>Provides activity logs to track system usage and ensure accountability.</a:t>
            </a:r>
          </a:p>
        </p:txBody>
      </p:sp>
    </p:spTree>
    <p:extLst>
      <p:ext uri="{BB962C8B-B14F-4D97-AF65-F5344CB8AC3E}">
        <p14:creationId xmlns:p14="http://schemas.microsoft.com/office/powerpoint/2010/main" val="26322564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0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56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lvl="0" algn="ctr">
              <a:buSzPct val="100000"/>
            </a:pPr>
            <a:r>
              <a:rPr lang="en-US" b="1" dirty="0">
                <a:latin typeface="Arial Narrow"/>
                <a:ea typeface="Arial Narrow"/>
                <a:cs typeface="Arial Narrow"/>
                <a:sym typeface="Arial Narrow"/>
              </a:rPr>
              <a:t>IMPLEMENTATION OF MODULE-1</a:t>
            </a:r>
            <a:endParaRPr b="1" dirty="0"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54" name="Google Shape;154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8674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</a:pPr>
            <a:endParaRPr dirty="0">
              <a:latin typeface="Arial Narrow" panose="020B0606020202030204" pitchFamily="34" charset="0"/>
            </a:endParaRPr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</a:pPr>
            <a:endParaRPr dirty="0">
              <a:latin typeface="Arial Narrow" panose="020B0606020202030204" pitchFamily="34" charset="0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5" name="Google Shape;155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t>18</a:t>
            </a:fld>
            <a:endParaRPr b="1">
              <a:solidFill>
                <a:schemeClr val="dk1"/>
              </a:solidFill>
            </a:endParaRPr>
          </a:p>
        </p:txBody>
      </p:sp>
      <p:sp>
        <p:nvSpPr>
          <p:cNvPr id="3" name="AutoShape 4">
            <a:extLst>
              <a:ext uri="{FF2B5EF4-FFF2-40B4-BE49-F238E27FC236}">
                <a16:creationId xmlns:a16="http://schemas.microsoft.com/office/drawing/2014/main" id="{509656BB-8B2E-3E36-21FC-816E8E0F304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813" y="1224045"/>
            <a:ext cx="5134064" cy="5132305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19DF0A4D-B282-9095-15A1-DADBC81051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7679" y="1406607"/>
            <a:ext cx="4984306" cy="487164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t>19</a:t>
            </a:fld>
            <a:endParaRPr b="1">
              <a:solidFill>
                <a:schemeClr val="dk1"/>
              </a:solidFill>
            </a:endParaRPr>
          </a:p>
        </p:txBody>
      </p:sp>
      <p:sp>
        <p:nvSpPr>
          <p:cNvPr id="162" name="Google Shape;162;p11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56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lvl="0" algn="ctr">
              <a:buSzPct val="100000"/>
            </a:pPr>
            <a:r>
              <a:rPr lang="en-US" b="1" dirty="0">
                <a:latin typeface="Arial Narrow"/>
                <a:ea typeface="Arial Narrow"/>
                <a:cs typeface="Arial Narrow"/>
                <a:sym typeface="Arial Narrow"/>
              </a:rPr>
              <a:t>IMPLEMENTATION OF MODULE-2</a:t>
            </a:r>
            <a:endParaRPr b="1" dirty="0">
              <a:latin typeface="Arial Narrow"/>
              <a:ea typeface="Arial Narrow"/>
              <a:cs typeface="Arial Narrow"/>
              <a:sym typeface="Arial Narrow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5029" y="1155930"/>
            <a:ext cx="5015153" cy="460507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63D75BA-530F-1EFF-1403-4E38395DF8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19" y="1373727"/>
            <a:ext cx="4848354" cy="4387273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t>20</a:t>
            </a:fld>
            <a:endParaRPr b="1">
              <a:solidFill>
                <a:schemeClr val="dk1"/>
              </a:solidFill>
            </a:endParaRPr>
          </a:p>
        </p:txBody>
      </p:sp>
      <p:sp>
        <p:nvSpPr>
          <p:cNvPr id="169" name="Google Shape;169;p12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56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lvl="0" algn="ctr">
              <a:buSzPct val="100000"/>
            </a:pPr>
            <a:r>
              <a:rPr lang="en-US" b="1" dirty="0">
                <a:latin typeface="Arial Narrow"/>
                <a:ea typeface="Arial Narrow"/>
                <a:cs typeface="Arial Narrow"/>
                <a:sym typeface="Arial Narrow"/>
              </a:rPr>
              <a:t>IMPLEMENTATION OF MODULE-3</a:t>
            </a:r>
            <a:endParaRPr b="1" dirty="0">
              <a:latin typeface="Arial Narrow"/>
              <a:ea typeface="Arial Narrow"/>
              <a:cs typeface="Arial Narrow"/>
              <a:sym typeface="Arial Narrow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9336" y="1346953"/>
            <a:ext cx="5345432" cy="4649086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110C2940-29FD-E5CE-CF17-F655B31E3E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740" y="1346952"/>
            <a:ext cx="4813831" cy="4649087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t>21</a:t>
            </a:fld>
            <a:endParaRPr b="1">
              <a:solidFill>
                <a:schemeClr val="dk1"/>
              </a:solidFill>
            </a:endParaRPr>
          </a:p>
        </p:txBody>
      </p:sp>
      <p:sp>
        <p:nvSpPr>
          <p:cNvPr id="176" name="Google Shape;176;p13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56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lvl="0" algn="ctr">
              <a:buSzPct val="100000"/>
            </a:pPr>
            <a:r>
              <a:rPr lang="en-US" b="1" dirty="0">
                <a:latin typeface="Arial Narrow"/>
                <a:ea typeface="Arial Narrow"/>
                <a:cs typeface="Arial Narrow"/>
                <a:sym typeface="Arial Narrow"/>
              </a:rPr>
              <a:t>IMPLEMENTATION OF MODULE-4</a:t>
            </a:r>
            <a:endParaRPr b="1" dirty="0"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9494982" y="2253673"/>
            <a:ext cx="1016000" cy="5357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8190" y="1357137"/>
            <a:ext cx="5168174" cy="456337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23EC023-1C29-FFDF-F506-6ADD9B8B86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4619" y="1357137"/>
            <a:ext cx="5022672" cy="4557055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6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066900" cy="89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b="1">
                <a:latin typeface="Arial Narrow"/>
                <a:ea typeface="Arial Narrow"/>
                <a:cs typeface="Arial Narrow"/>
                <a:sym typeface="Arial Narrow"/>
              </a:rPr>
              <a:t>CONCLUSION</a:t>
            </a:r>
            <a:endParaRPr b="1"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95" name="Google Shape;195;p1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7500" lnSpcReduction="20000"/>
          </a:bodyPr>
          <a:lstStyle/>
          <a:p>
            <a:pPr marL="0" lvl="0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dirty="0">
                <a:solidFill>
                  <a:schemeClr val="tx1"/>
                </a:solidFill>
                <a:latin typeface="Arial Narrow" panose="020B0606020202030204" pitchFamily="34" charset="0"/>
              </a:rPr>
              <a:t>1.The Academic and Placement Tracker successfully integrates academic monitoring and placement management into a single platform.</a:t>
            </a:r>
          </a:p>
          <a:p>
            <a:pPr marL="0" lvl="0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dirty="0">
                <a:solidFill>
                  <a:schemeClr val="tx1"/>
                </a:solidFill>
                <a:latin typeface="Arial Narrow" panose="020B0606020202030204" pitchFamily="34" charset="0"/>
              </a:rPr>
              <a:t>2.It minimizes manual work, reduces errors, and improves efficiency in handling student records.</a:t>
            </a:r>
          </a:p>
          <a:p>
            <a:pPr marL="0" lvl="0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dirty="0">
                <a:solidFill>
                  <a:schemeClr val="tx1"/>
                </a:solidFill>
                <a:latin typeface="Arial Narrow" panose="020B0606020202030204" pitchFamily="34" charset="0"/>
              </a:rPr>
              <a:t>3.The system benefits students by helping them evaluate their academic growth and placement readiness.</a:t>
            </a:r>
          </a:p>
          <a:p>
            <a:pPr marL="0" lvl="0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dirty="0">
                <a:solidFill>
                  <a:schemeClr val="tx1"/>
                </a:solidFill>
                <a:latin typeface="Arial Narrow" panose="020B0606020202030204" pitchFamily="34" charset="0"/>
              </a:rPr>
              <a:t>4.Faculty and placement officers gain accurate, real-time data for better decision-making and guidance.</a:t>
            </a:r>
          </a:p>
          <a:p>
            <a:pPr marL="0" lvl="0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dirty="0">
                <a:solidFill>
                  <a:schemeClr val="tx1"/>
                </a:solidFill>
                <a:latin typeface="Arial Narrow" panose="020B0606020202030204" pitchFamily="34" charset="0"/>
              </a:rPr>
              <a:t>5.Overall, the project ensures transparency, accessibility, and reliability in managing both academic and placement activities.</a:t>
            </a:r>
          </a:p>
          <a:p>
            <a:pPr marL="0" lvl="0" indent="0">
              <a:spcBef>
                <a:spcPts val="0"/>
              </a:spcBef>
              <a:buSzPts val="2800"/>
              <a:buNone/>
            </a:pPr>
            <a:endParaRPr lang="en-US" dirty="0">
              <a:latin typeface="Arial Narrow" panose="020B0606020202030204" pitchFamily="34" charset="0"/>
            </a:endParaRPr>
          </a:p>
        </p:txBody>
      </p:sp>
      <p:sp>
        <p:nvSpPr>
          <p:cNvPr id="196" name="Google Shape;19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chemeClr val="dk1"/>
                </a:solidFill>
              </a:rPr>
              <a:t>22</a:t>
            </a:fld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>
          <a:extLst>
            <a:ext uri="{FF2B5EF4-FFF2-40B4-BE49-F238E27FC236}">
              <a16:creationId xmlns:a16="http://schemas.microsoft.com/office/drawing/2014/main" id="{158DC945-209D-3CC4-978D-F1775DC4CA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6">
            <a:extLst>
              <a:ext uri="{FF2B5EF4-FFF2-40B4-BE49-F238E27FC236}">
                <a16:creationId xmlns:a16="http://schemas.microsoft.com/office/drawing/2014/main" id="{41AD951B-2AFC-752E-2E78-41812B04042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0"/>
            <a:ext cx="12066900" cy="89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 algn="ctr">
              <a:buSzPts val="4400"/>
            </a:pPr>
            <a:r>
              <a:rPr lang="en-US" b="1" dirty="0">
                <a:latin typeface="Arial Narrow"/>
              </a:rPr>
              <a:t>FUTURE ENHANCEMENTS </a:t>
            </a:r>
            <a:endParaRPr b="1" dirty="0">
              <a:latin typeface="Arial Narrow"/>
              <a:sym typeface="Arial Narrow"/>
            </a:endParaRPr>
          </a:p>
        </p:txBody>
      </p:sp>
      <p:sp>
        <p:nvSpPr>
          <p:cNvPr id="196" name="Google Shape;196;p16">
            <a:extLst>
              <a:ext uri="{FF2B5EF4-FFF2-40B4-BE49-F238E27FC236}">
                <a16:creationId xmlns:a16="http://schemas.microsoft.com/office/drawing/2014/main" id="{5F65EE21-0D87-9A7B-FC62-462463E7E7B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chemeClr val="dk1"/>
                </a:solidFill>
              </a:rPr>
              <a:t>23</a:t>
            </a:fld>
            <a:endParaRPr>
              <a:solidFill>
                <a:schemeClr val="dk1"/>
              </a:solidFill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5079E9B0-3E74-55F6-16DF-9B2DF9667A7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62911" y="1087668"/>
            <a:ext cx="10341077" cy="5078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Integration of Attendance Tracking System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Add automated attendance monitoring with QR codes, GPS, or biometric support to provide accurate and real-time attendance records.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Assignment Management Module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Introduce assignment upload, deadline reminders, grading, and feedback features to help students and mentors manage academic tasks efficiently.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AI-Based Performance Prediction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Implement machine learning models to predict academic outcomes, placement chances, and recommend improvement areas for students.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Industry Notification &amp; Internship Alerts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Add automatic job, internship, and company update notifications based on student skills, CGPA, and department.</a:t>
            </a:r>
          </a:p>
        </p:txBody>
      </p:sp>
    </p:spTree>
    <p:extLst>
      <p:ext uri="{BB962C8B-B14F-4D97-AF65-F5344CB8AC3E}">
        <p14:creationId xmlns:p14="http://schemas.microsoft.com/office/powerpoint/2010/main" val="28340704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163</TotalTime>
  <Words>1420</Words>
  <Application>Microsoft Office PowerPoint</Application>
  <PresentationFormat>Widescreen</PresentationFormat>
  <Paragraphs>171</Paragraphs>
  <Slides>23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9" baseType="lpstr">
      <vt:lpstr>Arial</vt:lpstr>
      <vt:lpstr>Wingdings</vt:lpstr>
      <vt:lpstr>Arial Narrow</vt:lpstr>
      <vt:lpstr>Times New Roman</vt:lpstr>
      <vt:lpstr>Calibri</vt:lpstr>
      <vt:lpstr>Office Theme</vt:lpstr>
      <vt:lpstr>PowerPoint Presentation</vt:lpstr>
      <vt:lpstr>PowerPoint Presentation</vt:lpstr>
      <vt:lpstr>OBJECTIVE OF THE PROJECT</vt:lpstr>
      <vt:lpstr>INTRODUCTION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SOFTWARE AND HARDWARE REQUIREMENTS </vt:lpstr>
      <vt:lpstr>MODULES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IMPLEMENTATION OF MODULE-1</vt:lpstr>
      <vt:lpstr>IMPLEMENTATION OF MODULE-2</vt:lpstr>
      <vt:lpstr>IMPLEMENTATION OF MODULE-3</vt:lpstr>
      <vt:lpstr>IMPLEMENTATION OF MODULE-4</vt:lpstr>
      <vt:lpstr>CONCLUSION</vt:lpstr>
      <vt:lpstr>FUTURE ENHANCEMENTS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Saravanan M</dc:creator>
  <cp:lastModifiedBy>rajesh r</cp:lastModifiedBy>
  <cp:revision>17</cp:revision>
  <dcterms:modified xsi:type="dcterms:W3CDTF">2025-11-27T16:28:34Z</dcterms:modified>
</cp:coreProperties>
</file>